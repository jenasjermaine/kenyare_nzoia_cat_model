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59869-1EED-4AD8-830B-5429B7F96E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0BEE5-79C6-4A88-B161-D3B8A7CF5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4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20BEE5-79C6-4A88-B161-D3B8A7CF52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4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041D3B"/>
                </a:solidFill>
                <a:latin typeface="Calibri"/>
              </a:rPr>
              <a:t>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266" y="6400800"/>
            <a:ext cx="8229600" cy="246221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dirty="0" err="1">
                <a:solidFill>
                  <a:srgbClr val="696F6F"/>
                </a:solidFill>
                <a:latin typeface="Calibri"/>
              </a:rPr>
              <a:t>Nzoia</a:t>
            </a:r>
            <a:r>
              <a:rPr sz="1000" b="0" dirty="0">
                <a:solidFill>
                  <a:srgbClr val="696F6F"/>
                </a:solidFill>
                <a:latin typeface="Calibri"/>
              </a:rPr>
              <a:t> Flood CAT Model  ·  Kenya Re Hackathon  ·  Team </a:t>
            </a:r>
            <a:r>
              <a:rPr lang="en-US" sz="1000" dirty="0" smtClean="0">
                <a:solidFill>
                  <a:srgbClr val="696F6F"/>
                </a:solidFill>
                <a:latin typeface="Calibri"/>
              </a:rPr>
              <a:t>Triple J</a:t>
            </a:r>
            <a:endParaRPr sz="1000" b="0" dirty="0">
              <a:solidFill>
                <a:srgbClr val="696F6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000" b="0">
                <a:solidFill>
                  <a:srgbClr val="696F6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600" b="0" dirty="0">
                <a:solidFill>
                  <a:srgbClr val="041D3B"/>
                </a:solidFill>
                <a:latin typeface="Calibri"/>
              </a:rPr>
              <a:t>A flood catastrophe model and AI underwriting desk for the lower </a:t>
            </a:r>
            <a:r>
              <a:rPr sz="1600" b="0" dirty="0" err="1">
                <a:solidFill>
                  <a:srgbClr val="041D3B"/>
                </a:solidFill>
                <a:latin typeface="Calibri"/>
              </a:rPr>
              <a:t>Nzoia</a:t>
            </a:r>
            <a:r>
              <a:rPr sz="1600" b="0" dirty="0">
                <a:solidFill>
                  <a:srgbClr val="041D3B"/>
                </a:solidFill>
                <a:latin typeface="Calibri"/>
              </a:rPr>
              <a:t> basin: broker offer in, priced and explained decision 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011" y="2286000"/>
            <a:ext cx="3429000" cy="3291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0011" y="2286000"/>
            <a:ext cx="342900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051" y="4251960"/>
            <a:ext cx="2788920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 smtClean="0">
                <a:solidFill>
                  <a:srgbClr val="041D3B"/>
                </a:solidFill>
                <a:latin typeface="Calibri"/>
              </a:rPr>
              <a:t>Name:</a:t>
            </a:r>
            <a:r>
              <a:rPr lang="en-US" sz="1400" b="0" dirty="0" smtClean="0">
                <a:solidFill>
                  <a:srgbClr val="041D3B"/>
                </a:solidFill>
                <a:latin typeface="Calibri"/>
              </a:rPr>
              <a:t> </a:t>
            </a:r>
            <a:r>
              <a:rPr lang="en-US" sz="1400" dirty="0" smtClean="0">
                <a:solidFill>
                  <a:srgbClr val="041D3B"/>
                </a:solidFill>
                <a:latin typeface="Calibri"/>
              </a:rPr>
              <a:t>Jesse </a:t>
            </a:r>
            <a:r>
              <a:rPr lang="en-US" sz="1400" dirty="0" err="1" smtClean="0">
                <a:solidFill>
                  <a:srgbClr val="041D3B"/>
                </a:solidFill>
                <a:latin typeface="Calibri"/>
              </a:rPr>
              <a:t>Kariuki</a:t>
            </a:r>
            <a:endParaRPr sz="1400" b="0" dirty="0">
              <a:solidFill>
                <a:srgbClr val="041D3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7303" y="4754880"/>
            <a:ext cx="2788920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696F6F"/>
                </a:solidFill>
                <a:latin typeface="Calibri"/>
              </a:rPr>
              <a:t>Role: </a:t>
            </a:r>
            <a:r>
              <a:rPr lang="en-US" sz="1400" b="0" dirty="0" smtClean="0">
                <a:solidFill>
                  <a:srgbClr val="696F6F"/>
                </a:solidFill>
                <a:latin typeface="Calibri"/>
              </a:rPr>
              <a:t>Catastrophe Modeler</a:t>
            </a:r>
            <a:endParaRPr sz="1400" b="0" dirty="0">
              <a:solidFill>
                <a:srgbClr val="696F6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81347" y="2286000"/>
            <a:ext cx="3429000" cy="3291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1347" y="2286000"/>
            <a:ext cx="3429000" cy="8229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1387" y="4251960"/>
            <a:ext cx="2788920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041D3B"/>
                </a:solidFill>
                <a:latin typeface="Calibri"/>
              </a:rPr>
              <a:t>Name: </a:t>
            </a:r>
            <a:r>
              <a:rPr lang="en-US" sz="1400" b="0" dirty="0" smtClean="0">
                <a:solidFill>
                  <a:srgbClr val="041D3B"/>
                </a:solidFill>
                <a:latin typeface="Calibri"/>
              </a:rPr>
              <a:t>Joy </a:t>
            </a:r>
            <a:r>
              <a:rPr lang="en-US" sz="1400" b="0" dirty="0" err="1" smtClean="0">
                <a:solidFill>
                  <a:srgbClr val="041D3B"/>
                </a:solidFill>
                <a:latin typeface="Calibri"/>
              </a:rPr>
              <a:t>Melvine</a:t>
            </a:r>
            <a:endParaRPr sz="1400" b="0" dirty="0">
              <a:solidFill>
                <a:srgbClr val="041D3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01387" y="4754880"/>
            <a:ext cx="2788920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696F6F"/>
                </a:solidFill>
                <a:latin typeface="Calibri"/>
              </a:rPr>
              <a:t>Role</a:t>
            </a:r>
            <a:r>
              <a:rPr sz="1400" b="0" dirty="0" smtClean="0">
                <a:solidFill>
                  <a:srgbClr val="696F6F"/>
                </a:solidFill>
                <a:latin typeface="Calibri"/>
              </a:rPr>
              <a:t>:</a:t>
            </a:r>
            <a:r>
              <a:rPr lang="en-US" sz="1400" b="0" dirty="0" smtClean="0">
                <a:solidFill>
                  <a:srgbClr val="696F6F"/>
                </a:solidFill>
                <a:latin typeface="Calibri"/>
              </a:rPr>
              <a:t> Software Engineer</a:t>
            </a:r>
            <a:r>
              <a:rPr sz="1400" b="0" dirty="0" smtClean="0">
                <a:solidFill>
                  <a:srgbClr val="696F6F"/>
                </a:solidFill>
                <a:latin typeface="Calibri"/>
              </a:rPr>
              <a:t> </a:t>
            </a:r>
            <a:endParaRPr sz="1400" b="0" dirty="0">
              <a:solidFill>
                <a:srgbClr val="696F6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12683" y="2286000"/>
            <a:ext cx="3429000" cy="3291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12683" y="2286000"/>
            <a:ext cx="342900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2723" y="4251960"/>
            <a:ext cx="2788920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041D3B"/>
                </a:solidFill>
                <a:latin typeface="Calibri"/>
              </a:rPr>
              <a:t>Name</a:t>
            </a:r>
            <a:r>
              <a:rPr sz="1400" b="0" dirty="0" smtClean="0">
                <a:solidFill>
                  <a:srgbClr val="041D3B"/>
                </a:solidFill>
                <a:latin typeface="Calibri"/>
              </a:rPr>
              <a:t>:</a:t>
            </a:r>
            <a:r>
              <a:rPr lang="en-US" sz="1400" b="0" dirty="0" smtClean="0">
                <a:solidFill>
                  <a:srgbClr val="041D3B"/>
                </a:solidFill>
                <a:latin typeface="Calibri"/>
              </a:rPr>
              <a:t> Jenas Jermaine</a:t>
            </a:r>
            <a:endParaRPr sz="1400" b="0" dirty="0">
              <a:solidFill>
                <a:srgbClr val="041D3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32723" y="4754880"/>
            <a:ext cx="2788920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696F6F"/>
                </a:solidFill>
                <a:latin typeface="Calibri"/>
              </a:rPr>
              <a:t>Role</a:t>
            </a:r>
            <a:r>
              <a:rPr sz="1400" b="0" dirty="0" smtClean="0">
                <a:solidFill>
                  <a:srgbClr val="696F6F"/>
                </a:solidFill>
                <a:latin typeface="Calibri"/>
              </a:rPr>
              <a:t>:</a:t>
            </a:r>
            <a:r>
              <a:rPr lang="en-US" sz="1400" b="0" dirty="0" smtClean="0">
                <a:solidFill>
                  <a:srgbClr val="696F6F"/>
                </a:solidFill>
                <a:latin typeface="Calibri"/>
              </a:rPr>
              <a:t> Data Scientist </a:t>
            </a:r>
            <a:endParaRPr sz="1400" b="0" dirty="0">
              <a:solidFill>
                <a:srgbClr val="696F6F"/>
              </a:solidFill>
              <a:latin typeface="Calibri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5" t="-14" r="394" b="41486"/>
          <a:stretch/>
        </p:blipFill>
        <p:spPr>
          <a:xfrm>
            <a:off x="1579962" y="2673792"/>
            <a:ext cx="1369098" cy="1375200"/>
          </a:xfrm>
          <a:prstGeom prst="ellips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9" t="6333" r="27334" b="40190"/>
          <a:stretch/>
        </p:blipFill>
        <p:spPr>
          <a:xfrm>
            <a:off x="9229217" y="2623500"/>
            <a:ext cx="1395932" cy="1375200"/>
          </a:xfrm>
          <a:prstGeom prst="ellips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40" t="28799" r="32956" b="46666"/>
          <a:stretch/>
        </p:blipFill>
        <p:spPr>
          <a:xfrm>
            <a:off x="5201728" y="2623500"/>
            <a:ext cx="1367769" cy="1375200"/>
          </a:xfrm>
          <a:prstGeom prst="ellips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7423" y="1018835"/>
            <a:ext cx="10586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Name: Triple J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1005840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 dirty="0">
                <a:solidFill>
                  <a:srgbClr val="041D3B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843" y="896112"/>
            <a:ext cx="1097280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696F6F"/>
                </a:solidFill>
                <a:latin typeface="Calibri"/>
              </a:rPr>
              <a:t>From a broker's offer to a priced, explained underwriting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46221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dirty="0" err="1">
                <a:solidFill>
                  <a:srgbClr val="696F6F"/>
                </a:solidFill>
                <a:latin typeface="Calibri"/>
              </a:rPr>
              <a:t>Nzoia</a:t>
            </a:r>
            <a:r>
              <a:rPr sz="1000" b="0" dirty="0">
                <a:solidFill>
                  <a:srgbClr val="696F6F"/>
                </a:solidFill>
                <a:latin typeface="Calibri"/>
              </a:rPr>
              <a:t> Flood CAT Model  ·  Kenya Re Hackathon  ·  Team </a:t>
            </a:r>
            <a:r>
              <a:rPr lang="en-US" sz="1000" dirty="0" smtClean="0">
                <a:solidFill>
                  <a:srgbClr val="696F6F"/>
                </a:solidFill>
                <a:latin typeface="Calibri"/>
              </a:rPr>
              <a:t>Triple J</a:t>
            </a:r>
            <a:endParaRPr sz="1000" b="0" dirty="0">
              <a:solidFill>
                <a:srgbClr val="696F6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000" b="0">
                <a:solidFill>
                  <a:srgbClr val="696F6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25880"/>
            <a:ext cx="73152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1">
                <a:solidFill>
                  <a:srgbClr val="696F6F"/>
                </a:solidFill>
                <a:latin typeface="Calibri"/>
              </a:rPr>
              <a:t>UNDERWRITING DESK  (live, in the web app)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843" y="169164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8843" y="1691640"/>
            <a:ext cx="1664208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1995" y="1819656"/>
            <a:ext cx="15179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1  Broker offer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Word doc, text, site photos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58771" y="2167128"/>
            <a:ext cx="210312" cy="237744"/>
          </a:xfrm>
          <a:prstGeom prst="rightArrow">
            <a:avLst/>
          </a:prstGeom>
          <a:solidFill>
            <a:srgbClr val="69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14803" y="169164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1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14803" y="1691640"/>
            <a:ext cx="1664208" cy="8229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87955" y="1819656"/>
            <a:ext cx="15179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11242"/>
                </a:solidFill>
                <a:latin typeface="Calibri"/>
              </a:rPr>
              <a:t>2  AI extraction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Gemini turns it into buildings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4731" y="2167128"/>
            <a:ext cx="210312" cy="237744"/>
          </a:xfrm>
          <a:prstGeom prst="rightArrow">
            <a:avLst/>
          </a:prstGeom>
          <a:solidFill>
            <a:srgbClr val="69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0763" y="169164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80763" y="1691640"/>
            <a:ext cx="1664208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53915" y="1819656"/>
            <a:ext cx="15179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3  Validate &amp; locate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Rule checks, placed on the flood map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90691" y="2167128"/>
            <a:ext cx="210312" cy="237744"/>
          </a:xfrm>
          <a:prstGeom prst="rightArrow">
            <a:avLst/>
          </a:prstGeom>
          <a:solidFill>
            <a:srgbClr val="69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6723" y="169164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6723" y="1691640"/>
            <a:ext cx="1664208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9875" y="1819656"/>
            <a:ext cx="15179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4  Loss engine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Depth → damage → KES at every flood size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56651" y="2167128"/>
            <a:ext cx="210312" cy="237744"/>
          </a:xfrm>
          <a:prstGeom prst="rightArrow">
            <a:avLst/>
          </a:prstGeom>
          <a:solidFill>
            <a:srgbClr val="69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12683" y="169164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1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12683" y="1691640"/>
            <a:ext cx="1664208" cy="8229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5835" y="1819656"/>
            <a:ext cx="15179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11242"/>
                </a:solidFill>
                <a:latin typeface="Calibri"/>
              </a:rPr>
              <a:t>5  Explain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SHAP &amp; LIME: why this damage?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22611" y="2167128"/>
            <a:ext cx="210312" cy="237744"/>
          </a:xfrm>
          <a:prstGeom prst="rightArrow">
            <a:avLst/>
          </a:prstGeom>
          <a:solidFill>
            <a:srgbClr val="69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78643" y="169164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1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78643" y="1691640"/>
            <a:ext cx="1664208" cy="8229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51795" y="1819656"/>
            <a:ext cx="15179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11242"/>
                </a:solidFill>
                <a:latin typeface="Calibri"/>
              </a:rPr>
              <a:t>6  Decide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Impact on the book + AI briefing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3246120"/>
            <a:ext cx="56692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1">
                <a:solidFill>
                  <a:srgbClr val="696F6F"/>
                </a:solidFill>
                <a:latin typeface="Calibri"/>
              </a:rPr>
              <a:t>MODEL LAYER  (built in Python, exported to the app)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06727" y="3657600"/>
            <a:ext cx="2103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706727" y="3657600"/>
            <a:ext cx="210312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79879" y="3785615"/>
            <a:ext cx="19568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JRC flood maps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Real depths, 1-in-10 to 1-in-500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8447" y="3657600"/>
            <a:ext cx="2103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38447" y="3657600"/>
            <a:ext cx="210312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1599" y="3785615"/>
            <a:ext cx="19568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ML damage model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Gradient boosting, 30k pseudo-claims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0167" y="3657600"/>
            <a:ext cx="2103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70167" y="3657600"/>
            <a:ext cx="210312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3319" y="3785615"/>
            <a:ext cx="19568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Policy &amp; Cat XL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Deductible, limit, reinsurance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01887" y="3657600"/>
            <a:ext cx="2103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4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701887" y="3657600"/>
            <a:ext cx="210312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75039" y="3785615"/>
            <a:ext cx="19568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41D3B"/>
                </a:solidFill>
                <a:latin typeface="Calibri"/>
              </a:rPr>
              <a:t>Monte Carlo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20–50k simulated years</a:t>
            </a:r>
          </a:p>
        </p:txBody>
      </p:sp>
      <p:sp>
        <p:nvSpPr>
          <p:cNvPr id="46" name="Up Arrow 45"/>
          <p:cNvSpPr/>
          <p:nvPr/>
        </p:nvSpPr>
        <p:spPr>
          <a:xfrm>
            <a:off x="6895947" y="2953512"/>
            <a:ext cx="365760" cy="630935"/>
          </a:xfrm>
          <a:prstGeom prst="upArrow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own Arrow 46"/>
          <p:cNvSpPr/>
          <p:nvPr/>
        </p:nvSpPr>
        <p:spPr>
          <a:xfrm>
            <a:off x="10827867" y="2953512"/>
            <a:ext cx="365760" cy="2157984"/>
          </a:xfrm>
          <a:prstGeom prst="downArrow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360920" y="5193792"/>
            <a:ext cx="4481931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11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60920" y="5193792"/>
            <a:ext cx="4481931" cy="8229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34072" y="5321807"/>
            <a:ext cx="4335627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11242"/>
                </a:solidFill>
                <a:latin typeface="Calibri"/>
              </a:rPr>
              <a:t>Portfolio &amp; audit trail</a:t>
            </a:r>
          </a:p>
          <a:p>
            <a:pPr algn="ctr"/>
            <a:r>
              <a:rPr sz="1100">
                <a:solidFill>
                  <a:srgbClr val="696F6F"/>
                </a:solidFill>
                <a:latin typeface="Calibri"/>
              </a:rPr>
              <a:t>Accepted offers saved (SQLite) · whole-book losses, flood map, concentration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394960"/>
            <a:ext cx="201168" cy="201168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534009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>
                <a:solidFill>
                  <a:srgbClr val="041D3B"/>
                </a:solidFill>
                <a:latin typeface="Calibri"/>
              </a:rPr>
              <a:t>AI step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760720"/>
            <a:ext cx="201168" cy="201168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5705856"/>
            <a:ext cx="32004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>
                <a:solidFill>
                  <a:srgbClr val="041D3B"/>
                </a:solidFill>
                <a:latin typeface="Calibri"/>
              </a:rPr>
              <a:t>Model / rule-based step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340096"/>
            <a:ext cx="420624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>
                <a:solidFill>
                  <a:srgbClr val="696F6F"/>
                </a:solidFill>
                <a:latin typeface="Calibri"/>
              </a:rPr>
              <a:t>The AI reads and writes; every loss figure</a:t>
            </a:r>
          </a:p>
          <a:p>
            <a:pPr algn="l"/>
            <a:r>
              <a:rPr sz="1200" b="0">
                <a:solidFill>
                  <a:srgbClr val="696F6F"/>
                </a:solidFill>
                <a:latin typeface="Calibri"/>
              </a:rPr>
              <a:t>comes from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041D3B"/>
                </a:solidFill>
                <a:latin typeface="Calibri"/>
              </a:rP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dirty="0">
                <a:solidFill>
                  <a:srgbClr val="696F6F"/>
                </a:solidFill>
                <a:latin typeface="Calibri"/>
              </a:rPr>
              <a:t>What powers the model and the underwriting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46221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dirty="0" err="1">
                <a:solidFill>
                  <a:srgbClr val="696F6F"/>
                </a:solidFill>
                <a:latin typeface="Calibri"/>
              </a:rPr>
              <a:t>Nzoia</a:t>
            </a:r>
            <a:r>
              <a:rPr sz="1000" b="0" dirty="0">
                <a:solidFill>
                  <a:srgbClr val="696F6F"/>
                </a:solidFill>
                <a:latin typeface="Calibri"/>
              </a:rPr>
              <a:t> Flood CAT Model  ·  Kenya Re Hackathon  ·  Team </a:t>
            </a:r>
            <a:r>
              <a:rPr lang="en-US" sz="1000" dirty="0" smtClean="0">
                <a:solidFill>
                  <a:srgbClr val="696F6F"/>
                </a:solidFill>
                <a:latin typeface="Calibri"/>
              </a:rPr>
              <a:t>Triple 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000" b="0">
                <a:solidFill>
                  <a:srgbClr val="696F6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011" y="1463040"/>
            <a:ext cx="3520440" cy="4617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0011" y="1463040"/>
            <a:ext cx="3520440" cy="82296"/>
          </a:xfrm>
          <a:prstGeom prst="rect">
            <a:avLst/>
          </a:prstGeom>
          <a:solidFill>
            <a:srgbClr val="D1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331" y="1691640"/>
            <a:ext cx="297180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800" b="1">
                <a:solidFill>
                  <a:srgbClr val="D11242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31" y="23317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Google Gemini (Flash)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Reads offers &amp; site photos, writes briefings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331" y="32461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scikit-learn gradient boosting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Damage model with physics constraints + uncertainty bands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31" y="41605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SHAP &amp; LIME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Explain every damage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31" y="50749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Monte Carlo simulation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Correlated damage over 20–50k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5627" y="1463040"/>
            <a:ext cx="3520440" cy="4617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35627" y="1463040"/>
            <a:ext cx="352044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09947" y="1691640"/>
            <a:ext cx="297180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800" b="1">
                <a:solidFill>
                  <a:srgbClr val="041D3B"/>
                </a:solidFill>
                <a:latin typeface="Calibri"/>
              </a:rPr>
              <a:t>Data &amp;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9947" y="23317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JRC Global Flood Hazard Maps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Real flood depths, 6 return periods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9947" y="32461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JRC / Huizinga (2017) curves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Published depth-damage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9947" y="41605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Starter-kit portfolio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500 buildings, 10× value error corrected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47" y="50749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30,000 pseudo-claims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Synthetic training data for the ML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1243" y="1463040"/>
            <a:ext cx="3520440" cy="4617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21243" y="1463040"/>
            <a:ext cx="3520440" cy="82296"/>
          </a:xfrm>
          <a:prstGeom prst="rect">
            <a:avLst/>
          </a:prstGeom>
          <a:solidFill>
            <a:srgbClr val="041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5563" y="1691640"/>
            <a:ext cx="297180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800" b="1">
                <a:solidFill>
                  <a:srgbClr val="041D3B"/>
                </a:solidFill>
                <a:latin typeface="Calibri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5563" y="23317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Python · rasterio · SciPy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Model build in a Jupyter 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5563" y="32461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Next.js 16 · React 19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The underwriting desk, engine runs in-browser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5563" y="41605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Leaflet · OpenStreetMap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Interactive flood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5563" y="5074920"/>
            <a:ext cx="29718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>
                <a:solidFill>
                  <a:srgbClr val="041D3B"/>
                </a:solidFill>
                <a:latin typeface="Calibri"/>
              </a:rPr>
              <a:t>Node SQLite · zod</a:t>
            </a:r>
          </a:p>
          <a:p>
            <a:pPr algn="l"/>
            <a:r>
              <a:rPr sz="1150" b="0">
                <a:solidFill>
                  <a:srgbClr val="696F6F"/>
                </a:solidFill>
                <a:latin typeface="Calibri"/>
              </a:rPr>
              <a:t>Saved offers, audit trail, input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399</Words>
  <Application>Microsoft Office PowerPoint</Application>
  <PresentationFormat>Widescreen</PresentationFormat>
  <Paragraphs>75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2026-10-09T05:49:16Z</dcterms:modified>
  <cp:category/>
</cp:coreProperties>
</file>